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f5740b655d4c9f" /><Relationship Type="http://schemas.openxmlformats.org/officeDocument/2006/relationships/extended-properties" Target="/docProps/app.xml" Id="R034cd2e9b05b46ce" /><Relationship Type="http://schemas.openxmlformats.org/officeDocument/2006/relationships/officeDocument" Target="/ppt/presentation.xml" Id="R56e1fda808124d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92835418d8431c"/>
  </p:sldMasterIdLst>
  <p:notesMasterIdLst>
    <p:notesMasterId xmlns:r="http://schemas.openxmlformats.org/officeDocument/2006/relationships" r:id="R06f067aa6aa84b83"/>
  </p:notesMasterIdLst>
  <p:sldIdLst>
    <p:sldId xmlns:r="http://schemas.openxmlformats.org/officeDocument/2006/relationships" id="256" r:id="R8140aaa9b0eb44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8de7808df64d33" /><Relationship Type="http://schemas.openxmlformats.org/officeDocument/2006/relationships/slideMaster" Target="/ppt/slideMasters/slideMaster1.xml" Id="R0992835418d8431c" /><Relationship Type="http://schemas.openxmlformats.org/officeDocument/2006/relationships/notesMaster" Target="/ppt/notesMasters/notesMaster1.xml" Id="R06f067aa6aa84b83" /><Relationship Type="http://schemas.openxmlformats.org/officeDocument/2006/relationships/presProps" Target="/ppt/presProps.xml" Id="R5b3866e83e894d01" /><Relationship Type="http://schemas.openxmlformats.org/officeDocument/2006/relationships/tableStyles" Target="/ppt/tableStyles.xml" Id="Rfb52944dd94a41b5" /><Relationship Type="http://schemas.openxmlformats.org/officeDocument/2006/relationships/slide" Target="/ppt/slides/slide1.xml" Id="R8140aaa9b0eb44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351fbad82645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b8e588fd9e4b32" /><Relationship Type="http://schemas.openxmlformats.org/officeDocument/2006/relationships/notesMaster" Target="/ppt/notesMasters/notesMaster1.xml" Id="Rd0a47bb32c134b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Narrate the workflow in order: task pickup, worktree isolation, implementation, deterministic testing, review, and bounded remediation. Then point out the four repository files that configure the task, review policy, agent workflow, and runtime controls.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bea8f5bb4241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fc065587da468f" /><Relationship Type="http://schemas.openxmlformats.org/officeDocument/2006/relationships/slideLayout" Target="/ppt/slideLayouts/slideLayout1.xml" Id="Rc0d93029d0f646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d93029d0f646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fc4675c744f15" /><Relationship Type="http://schemas.openxmlformats.org/officeDocument/2006/relationships/notesSlide" Target="/ppt/notesSlides/notesSlide1.xml" Id="R84fb93d9895b41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orange-header">
            <a:extLst xmlns:a="http://schemas.openxmlformats.org/drawingml/2006/main">
              <a:ext uri="{FF2B5EF4-FFF2-40B4-BE49-F238E27FC236}">
                <a16:creationId xmlns:a16="http://schemas.microsoft.com/office/drawing/2014/main" id="{2570B240-FD3A-4AAA-8C25-7E9CCFC8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6522"/>
          </a:solidFill>
          <a:ln xmlns:a="http://schemas.openxmlformats.org/drawingml/2006/main" w="0">
            <a:solidFill>
              <a:srgbClr val="F56522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1A1263-FC1E-4B82-891D-9A801BD0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What Happens During the Live Demo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E88BA9EE-7227-44E8-863A-184C31EB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1074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425466"/>
                </a:solidFill>
              </a:defRPr>
            </a:pPr>
            <a:r>
              <a:rPr sz="1500">
                <a:solidFill>
                  <a:srgbClr val="425466"/>
                </a:solidFill>
              </a:rPr>
              <a:t>As the workflow runs, highlight these six actions</a:t>
            </a:r>
          </a:p>
        </p:txBody>
      </p:sp>
      <p:sp>
        <p:nvSpPr>
          <p:cNvPr id="4" name="bullet-1">
            <a:extLst xmlns:a="http://schemas.openxmlformats.org/drawingml/2006/main">
              <a:ext uri="{FF2B5EF4-FFF2-40B4-BE49-F238E27FC236}">
                <a16:creationId xmlns:a16="http://schemas.microsoft.com/office/drawing/2014/main" id="{B1A0063A-5089-445E-81FC-18DE82FE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solidFill>
              <a:srgbClr val="0B5CA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point-1">
            <a:extLst xmlns:a="http://schemas.openxmlformats.org/drawingml/2006/main">
              <a:ext uri="{FF2B5EF4-FFF2-40B4-BE49-F238E27FC236}">
                <a16:creationId xmlns:a16="http://schemas.microsoft.com/office/drawing/2014/main" id="{3FBF1793-362D-4EF6-8FFF-F90E16C1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04975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B4D"/>
                </a:solidFill>
              </a:defRPr>
            </a:pPr>
            <a:r>
              <a:rPr sz="1500">
                <a:solidFill>
                  <a:srgbClr val="172B4D"/>
                </a:solidFill>
              </a:rPr>
              <a:t>The CLI reads the structured ready task.</a:t>
            </a:r>
          </a:p>
        </p:txBody>
      </p:sp>
      <p:sp>
        <p:nvSpPr>
          <p:cNvPr id="6" name="bullet-2">
            <a:extLst xmlns:a="http://schemas.openxmlformats.org/drawingml/2006/main">
              <a:ext uri="{FF2B5EF4-FFF2-40B4-BE49-F238E27FC236}">
                <a16:creationId xmlns:a16="http://schemas.microsoft.com/office/drawing/2014/main" id="{E55B0710-F5B4-4928-8158-3F068CBB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solidFill>
              <a:srgbClr val="147D6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point-2">
            <a:extLst xmlns:a="http://schemas.openxmlformats.org/drawingml/2006/main">
              <a:ext uri="{FF2B5EF4-FFF2-40B4-BE49-F238E27FC236}">
                <a16:creationId xmlns:a16="http://schemas.microsoft.com/office/drawing/2014/main" id="{7A2B00E9-910F-4820-91B0-50D3B4B1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86025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B4D"/>
                </a:solidFill>
              </a:defRPr>
            </a:pPr>
            <a:r>
              <a:rPr sz="1500">
                <a:solidFill>
                  <a:srgbClr val="172B4D"/>
                </a:solidFill>
              </a:rPr>
              <a:t>A separate worktree protects the presenter’s main checkout.</a:t>
            </a:r>
          </a:p>
        </p:txBody>
      </p:sp>
      <p:sp>
        <p:nvSpPr>
          <p:cNvPr id="8" name="bullet-3">
            <a:extLst xmlns:a="http://schemas.openxmlformats.org/drawingml/2006/main">
              <a:ext uri="{FF2B5EF4-FFF2-40B4-BE49-F238E27FC236}">
                <a16:creationId xmlns:a16="http://schemas.microsoft.com/office/drawing/2014/main" id="{7048BF18-4E12-451D-96FF-76CDC058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CCF"/>
          </a:solidFill>
          <a:ln xmlns:a="http://schemas.openxmlformats.org/drawingml/2006/main" w="0">
            <a:solidFill>
              <a:srgbClr val="6C4CC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point-3">
            <a:extLst xmlns:a="http://schemas.openxmlformats.org/drawingml/2006/main">
              <a:ext uri="{FF2B5EF4-FFF2-40B4-BE49-F238E27FC236}">
                <a16:creationId xmlns:a16="http://schemas.microsoft.com/office/drawing/2014/main" id="{B56C34A5-5463-480F-BCBE-3D2A4059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67075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B4D"/>
                </a:solidFill>
              </a:defRPr>
            </a:pPr>
            <a:r>
              <a:rPr sz="1500">
                <a:solidFill>
                  <a:srgbClr val="172B4D"/>
                </a:solidFill>
              </a:rPr>
              <a:t>The implementation agent writes code and tests within the defined boundary.</a:t>
            </a:r>
          </a:p>
        </p:txBody>
      </p:sp>
      <p:sp>
        <p:nvSpPr>
          <p:cNvPr id="10" name="bullet-4">
            <a:extLst xmlns:a="http://schemas.openxmlformats.org/drawingml/2006/main">
              <a:ext uri="{FF2B5EF4-FFF2-40B4-BE49-F238E27FC236}">
                <a16:creationId xmlns:a16="http://schemas.microsoft.com/office/drawing/2014/main" id="{CEAD5284-D6C0-484C-9E02-24211C18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52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000"/>
          </a:solidFill>
          <a:ln xmlns:a="http://schemas.openxmlformats.org/drawingml/2006/main" w="0">
            <a:solidFill>
              <a:srgbClr val="B76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point-4">
            <a:extLst xmlns:a="http://schemas.openxmlformats.org/drawingml/2006/main">
              <a:ext uri="{FF2B5EF4-FFF2-40B4-BE49-F238E27FC236}">
                <a16:creationId xmlns:a16="http://schemas.microsoft.com/office/drawing/2014/main" id="{DCA87CEF-9E29-495E-AF75-A3B4A9A2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04975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B4D"/>
                </a:solidFill>
              </a:defRPr>
            </a:pPr>
            <a:r>
              <a:rPr sz="1500">
                <a:solidFill>
                  <a:srgbClr val="172B4D"/>
                </a:solidFill>
              </a:rPr>
              <a:t>Deterministic tests run against the generated workspace.</a:t>
            </a:r>
          </a:p>
        </p:txBody>
      </p:sp>
      <p:sp>
        <p:nvSpPr>
          <p:cNvPr id="12" name="bullet-5">
            <a:extLst xmlns:a="http://schemas.openxmlformats.org/drawingml/2006/main">
              <a:ext uri="{FF2B5EF4-FFF2-40B4-BE49-F238E27FC236}">
                <a16:creationId xmlns:a16="http://schemas.microsoft.com/office/drawing/2014/main" id="{E8CD64D5-7434-4234-A2C1-D492FF2D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33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solidFill>
              <a:srgbClr val="0B5CA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point-5">
            <a:extLst xmlns:a="http://schemas.openxmlformats.org/drawingml/2006/main">
              <a:ext uri="{FF2B5EF4-FFF2-40B4-BE49-F238E27FC236}">
                <a16:creationId xmlns:a16="http://schemas.microsoft.com/office/drawing/2014/main" id="{8BDB5C98-1BD0-4969-9EB8-02F18CEB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86025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B4D"/>
                </a:solidFill>
              </a:defRPr>
            </a:pPr>
            <a:r>
              <a:rPr sz="1500">
                <a:solidFill>
                  <a:srgbClr val="172B4D"/>
                </a:solidFill>
              </a:rPr>
              <a:t>The reviewer checks the diff, tests, security, and review guidelines.</a:t>
            </a:r>
          </a:p>
        </p:txBody>
      </p:sp>
      <p:sp>
        <p:nvSpPr>
          <p:cNvPr id="14" name="bullet-6">
            <a:extLst xmlns:a="http://schemas.openxmlformats.org/drawingml/2006/main">
              <a:ext uri="{FF2B5EF4-FFF2-40B4-BE49-F238E27FC236}">
                <a16:creationId xmlns:a16="http://schemas.microsoft.com/office/drawing/2014/main" id="{1674396D-9494-412D-AE71-97B75171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14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3C3C"/>
          </a:solidFill>
          <a:ln xmlns:a="http://schemas.openxmlformats.org/drawingml/2006/main" w="0">
            <a:solidFill>
              <a:srgbClr val="C33C3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point-6">
            <a:extLst xmlns:a="http://schemas.openxmlformats.org/drawingml/2006/main">
              <a:ext uri="{FF2B5EF4-FFF2-40B4-BE49-F238E27FC236}">
                <a16:creationId xmlns:a16="http://schemas.microsoft.com/office/drawing/2014/main" id="{677C3C53-FB93-4173-AE9A-0BA1617E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67075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B4D"/>
                </a:solidFill>
              </a:defRPr>
            </a:pPr>
            <a:r>
              <a:rPr sz="1500">
                <a:solidFill>
                  <a:srgbClr val="172B4D"/>
                </a:solidFill>
              </a:rPr>
              <a:t>The supervisor returns findings through a bounded remediation loop.</a:t>
            </a:r>
          </a:p>
        </p:txBody>
      </p:sp>
      <p:sp>
        <p:nvSpPr>
          <p:cNvPr id="16" name="reference-band">
            <a:extLst xmlns:a="http://schemas.openxmlformats.org/drawingml/2006/main">
              <a:ext uri="{FF2B5EF4-FFF2-40B4-BE49-F238E27FC236}">
                <a16:creationId xmlns:a16="http://schemas.microsoft.com/office/drawing/2014/main" id="{24DB51A6-0F07-488E-A324-833FA586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71950"/>
            <a:ext cx="121920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reference-title">
            <a:extLst xmlns:a="http://schemas.openxmlformats.org/drawingml/2006/main">
              <a:ext uri="{FF2B5EF4-FFF2-40B4-BE49-F238E27FC236}">
                <a16:creationId xmlns:a16="http://schemas.microsoft.com/office/drawing/2014/main" id="{D43A2E6C-5BE3-49DF-9E79-756A23B2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5CAD"/>
                </a:solidFill>
              </a:defRPr>
            </a:pPr>
            <a:r>
              <a:rPr sz="1800" b="1">
                <a:solidFill>
                  <a:srgbClr val="0B5CAD"/>
                </a:solidFill>
              </a:rPr>
              <a:t>Repository Inputs</a:t>
            </a:r>
          </a:p>
        </p:txBody>
      </p:sp>
      <p:sp>
        <p:nvSpPr>
          <p:cNvPr id="18" name="file-1">
            <a:extLst xmlns:a="http://schemas.openxmlformats.org/drawingml/2006/main">
              <a:ext uri="{FF2B5EF4-FFF2-40B4-BE49-F238E27FC236}">
                <a16:creationId xmlns:a16="http://schemas.microsoft.com/office/drawing/2014/main" id="{8A99C207-D0BD-4ED6-854A-32572788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6522"/>
                </a:solidFill>
              </a:defRPr>
            </a:pPr>
            <a:r>
              <a:rPr sz="1350" b="1">
                <a:solidFill>
                  <a:srgbClr val="F56522"/>
                </a:solidFill>
              </a:rPr>
              <a:t>TODO.md</a:t>
            </a:r>
          </a:p>
        </p:txBody>
      </p:sp>
      <p:sp>
        <p:nvSpPr>
          <p:cNvPr id="19" name="file-description-1">
            <a:extLst xmlns:a="http://schemas.openxmlformats.org/drawingml/2006/main">
              <a:ext uri="{FF2B5EF4-FFF2-40B4-BE49-F238E27FC236}">
                <a16:creationId xmlns:a16="http://schemas.microsoft.com/office/drawing/2014/main" id="{8E82D610-9CF4-4E28-9954-672B2CDE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62500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4D"/>
                </a:solidFill>
              </a:defRPr>
            </a:pPr>
            <a:r>
              <a:rPr sz="1350">
                <a:solidFill>
                  <a:srgbClr val="172B4D"/>
                </a:solidFill>
              </a:rPr>
              <a:t>Defines structured tasks, states, scope, and acceptance criteria.</a:t>
            </a:r>
          </a:p>
        </p:txBody>
      </p:sp>
      <p:sp>
        <p:nvSpPr>
          <p:cNvPr id="20" name="file-2">
            <a:extLst xmlns:a="http://schemas.openxmlformats.org/drawingml/2006/main">
              <a:ext uri="{FF2B5EF4-FFF2-40B4-BE49-F238E27FC236}">
                <a16:creationId xmlns:a16="http://schemas.microsoft.com/office/drawing/2014/main" id="{76CCEE27-0776-401D-A82B-C4DAD00D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01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6522"/>
                </a:solidFill>
              </a:defRPr>
            </a:pPr>
            <a:r>
              <a:rPr sz="1350" b="1">
                <a:solidFill>
                  <a:srgbClr val="F56522"/>
                </a:solidFill>
              </a:rPr>
              <a:t>codeReviewGuideline.md</a:t>
            </a:r>
          </a:p>
        </p:txBody>
      </p:sp>
      <p:sp>
        <p:nvSpPr>
          <p:cNvPr id="21" name="file-description-2">
            <a:extLst xmlns:a="http://schemas.openxmlformats.org/drawingml/2006/main">
              <a:ext uri="{FF2B5EF4-FFF2-40B4-BE49-F238E27FC236}">
                <a16:creationId xmlns:a16="http://schemas.microsoft.com/office/drawing/2014/main" id="{C32433FD-6729-43A5-B993-0435F126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10175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4D"/>
                </a:solidFill>
              </a:defRPr>
            </a:pPr>
            <a:r>
              <a:rPr sz="1350">
                <a:solidFill>
                  <a:srgbClr val="172B4D"/>
                </a:solidFill>
              </a:rPr>
              <a:t>Sets the quality, security, and review standards.</a:t>
            </a:r>
          </a:p>
        </p:txBody>
      </p:sp>
      <p:sp>
        <p:nvSpPr>
          <p:cNvPr id="22" name="file-3">
            <a:extLst xmlns:a="http://schemas.openxmlformats.org/drawingml/2006/main">
              <a:ext uri="{FF2B5EF4-FFF2-40B4-BE49-F238E27FC236}">
                <a16:creationId xmlns:a16="http://schemas.microsoft.com/office/drawing/2014/main" id="{EF8025C4-40AD-4D59-8EDF-90106954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6522"/>
                </a:solidFill>
              </a:defRPr>
            </a:pPr>
            <a:r>
              <a:rPr sz="1350" b="1">
                <a:solidFill>
                  <a:srgbClr val="F56522"/>
                </a:solidFill>
              </a:rPr>
              <a:t>coding_agent.yaml</a:t>
            </a:r>
          </a:p>
        </p:txBody>
      </p:sp>
      <p:sp>
        <p:nvSpPr>
          <p:cNvPr id="23" name="file-description-3">
            <a:extLst xmlns:a="http://schemas.openxmlformats.org/drawingml/2006/main">
              <a:ext uri="{FF2B5EF4-FFF2-40B4-BE49-F238E27FC236}">
                <a16:creationId xmlns:a16="http://schemas.microsoft.com/office/drawing/2014/main" id="{B4BF0C80-1882-409E-BA9C-9C1DDC30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57850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4D"/>
                </a:solidFill>
              </a:defRPr>
            </a:pPr>
            <a:r>
              <a:rPr sz="1350">
                <a:solidFill>
                  <a:srgbClr val="172B4D"/>
                </a:solidFill>
              </a:rPr>
              <a:t>Defines the agent stages, prompts, tools, and workflow routing.</a:t>
            </a:r>
          </a:p>
        </p:txBody>
      </p:sp>
      <p:sp>
        <p:nvSpPr>
          <p:cNvPr id="24" name="file-4">
            <a:extLst xmlns:a="http://schemas.openxmlformats.org/drawingml/2006/main">
              <a:ext uri="{FF2B5EF4-FFF2-40B4-BE49-F238E27FC236}">
                <a16:creationId xmlns:a16="http://schemas.microsoft.com/office/drawing/2014/main" id="{9E580313-BD62-49B8-B241-45A9BFDA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055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6522"/>
                </a:solidFill>
              </a:defRPr>
            </a:pPr>
            <a:r>
              <a:rPr sz="1350" b="1">
                <a:solidFill>
                  <a:srgbClr val="F56522"/>
                </a:solidFill>
              </a:rPr>
              <a:t>workflow_runtime.toml</a:t>
            </a:r>
          </a:p>
        </p:txBody>
      </p:sp>
      <p:sp>
        <p:nvSpPr>
          <p:cNvPr id="25" name="file-description-4">
            <a:extLst xmlns:a="http://schemas.openxmlformats.org/drawingml/2006/main">
              <a:ext uri="{FF2B5EF4-FFF2-40B4-BE49-F238E27FC236}">
                <a16:creationId xmlns:a16="http://schemas.microsoft.com/office/drawing/2014/main" id="{F478E14B-6DA7-43A9-9C7F-E8376C66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105525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4D"/>
                </a:solidFill>
              </a:defRPr>
            </a:pPr>
            <a:r>
              <a:rPr sz="1350">
                <a:solidFill>
                  <a:srgbClr val="172B4D"/>
                </a:solidFill>
              </a:rPr>
              <a:t>Controls models, timeouts, token budgets, logging, and runtime limits.</a:t>
            </a:r>
          </a:p>
        </p:txBody>
      </p:sp>
      <p:sp>
        <p:nvSpPr>
          <p:cNvPr id="26" name="footer-accent">
            <a:extLst xmlns:a="http://schemas.openxmlformats.org/drawingml/2006/main">
              <a:ext uri="{FF2B5EF4-FFF2-40B4-BE49-F238E27FC236}">
                <a16:creationId xmlns:a16="http://schemas.microsoft.com/office/drawing/2014/main" id="{5387BF80-2921-4797-B06E-B92CA6BF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6522"/>
          </a:solidFill>
          <a:ln xmlns:a="http://schemas.openxmlformats.org/drawingml/2006/main" w="0">
            <a:solidFill>
              <a:srgbClr val="F5652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327280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2026-09-16T14:52:19.3240000Z</dcterms:created>
  <dcterms:modified xsi:type="dcterms:W3CDTF">2026-09-16T14:52:19.3240000Z</dcterms:modified>
</coreProperties>
</file>